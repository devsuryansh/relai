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60" r:id="rId2"/>
    <p:sldId id="265" r:id="rId3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05" r:id="rId5"/>
    <p:sldId id="304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63" d="100"/>
          <a:sy n="63" d="100"/>
        </p:scale>
        <p:origin x="804" y="56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2/18/2025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2/18/2025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Suryansh</a:t>
            </a:r>
          </a:p>
          <a:p>
            <a:r>
              <a:t>Greet the panel. Group G053, Agent Reliability Lab, supervisor Mr. Pradeep Kumar. Introduce Simran and Tanishka and say who presents which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Suryansh</a:t>
            </a:r>
          </a:p>
          <a:p>
            <a:r>
              <a:t>Walk the agenda in one breath: requirements, design diagrams, implementation with code and output, results, paper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Suryansh</a:t>
            </a:r>
          </a:p>
          <a:p>
            <a:r>
              <a:t>One sentence problem, one sentence idea. Stress that pass or fail hides the reason. Map each objective from the synopsis to what is now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Suryansh</a:t>
            </a:r>
          </a:p>
          <a:p>
            <a:r>
              <a:t>Point at each layer top to bottom. Key design rule: only the execution layer calls agents, so every number can be recomputed from stored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Tanishka</a:t>
            </a:r>
          </a:p>
          <a:p>
            <a:r>
              <a:t>Read two or three FRs aloud, not all ten. For NFRs, explain fairness: the same fault hits every agent, which is what makes comparisons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Tanishka</a:t>
            </a:r>
          </a:p>
          <a:p>
            <a:r>
              <a:t>Each row is a file in src/relai. Mention owners so the panel knows whom to ask. Total: about 3,300 lines of code and 1,100 lines of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Suryansh</a:t>
            </a:r>
          </a:p>
          <a:p>
            <a:r>
              <a:t>Left: trajectory data. Middle: RunResult composes Score, RunMetrics, FailureReport; EvalReport and ExperimentReport group them. Right: every agent implements the Agent protocol; baselines inherit PolicyAgent.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Suryansh</a:t>
            </a:r>
          </a:p>
          <a:p>
            <a:r>
              <a:t>Follow one run: CLI loads the suite, harness loops variant x task x trial, the tool session decides the fault from the seed, analysis scores and classifies, then stats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Tanishka</a:t>
            </a:r>
          </a:p>
          <a:p>
            <a:r>
              <a:t>Level 0 shows the researcher, the agent under test, and an optional model API. Level 1 splits the lab into load, execute, score, classify, compare, and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Tanishka</a:t>
            </a:r>
          </a:p>
          <a:p>
            <a:r>
              <a:t>One-to-many all the way down. Foreign keys cascade on delete. The steps and failures tables exist so failure counts can be queried in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Tanishka</a:t>
            </a:r>
          </a:p>
          <a:p>
            <a:r>
              <a:t>Green is done, amber is planned. We are at the red line: design and v0.2 implementation are complete; live LLM experiments and the paper results come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Simran</a:t>
            </a:r>
          </a:p>
          <a:p>
            <a:r>
              <a:t>Explain why pass^k matters: 0.77 success can mean only 0.33 of tasks pass all five times. Walk the flowchart: detectors, earliest evidence wins, unknown stays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Suryansh</a:t>
            </a:r>
          </a:p>
          <a:p>
            <a:r>
              <a:t>Top: the fault depends only on seed, task, trial, tool, and call number, never on the agent. Bottom: the retry agent retries only environment faults, with optional backoff.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Simran</a:t>
            </a:r>
          </a:p>
          <a:p>
            <a:r>
              <a:t>Left: the harness loop passes trial and seed through task metadata and turns crashes into failed runs. Right: the two estimators and the exact McNemar p-value.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Tanishka</a:t>
            </a:r>
          </a:p>
          <a:p>
            <a:r>
              <a:t>Live demo if time allows: relai run reliability --agent naive --agent retry:1 --agent retry:3 --trials 5 --timeout-rate 0.3. Otherwise read this table. Then show 81 tests and lint 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Simran</a:t>
            </a:r>
          </a:p>
          <a:p>
            <a:r>
              <a:t>Be clear these are offline reference agents: they validate the instrument, they do not rank LLMs. Live model runs are the next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Suryansh</a:t>
            </a:r>
          </a:p>
          <a:p>
            <a:r>
              <a:t>Hand over the hard copy of the paper here. Be honest about what is next: the instrument is finished, the live model study is the next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Simran</a:t>
            </a:r>
          </a:p>
          <a:p>
            <a:r>
              <a:t>No need to read these. Mention that the paper cites 25 sources and positions the work against 2025 and 2026 reliability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Suryansh</a:t>
            </a:r>
          </a:p>
          <a:p>
            <a:r>
              <a:t>Thank the panel and invite questions. Each member answers questions on the modules they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All</a:t>
            </a:r>
          </a:p>
          <a:p>
            <a:r>
              <a:t>Leave blank; write the panel's feedback here after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85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Agent Reliability Lab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446212" y="1828800"/>
            <a:ext cx="9601200" cy="4191000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1F2933"/>
                </a:solidFill>
                <a:latin typeface="Arial"/>
              </a:rPr>
              <a:t>Controlled Fault Injection and Failure Analysis for AI Agents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1F2933"/>
                </a:solidFill>
                <a:latin typeface="Arial"/>
              </a:rPr>
              <a:t>Department of Computer Science and Engineering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600" b="1">
                <a:solidFill>
                  <a:srgbClr val="7A1F86"/>
                </a:solidFill>
                <a:latin typeface="Arial"/>
              </a:rPr>
              <a:t>(Supervisor: Mr. Pradeep Kumar)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D35DFE-0D21-4638-83BD-6EE30128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336605"/>
              </p:ext>
            </p:extLst>
          </p:nvPr>
        </p:nvGraphicFramePr>
        <p:xfrm>
          <a:off x="2284412" y="4552950"/>
          <a:ext cx="8101544" cy="200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1">
                  <a:extLst>
                    <a:ext uri="{9D8B030D-6E8A-4147-A177-3AD203B41FA5}">
                      <a16:colId xmlns:a16="http://schemas.microsoft.com/office/drawing/2014/main" val="1489308670"/>
                    </a:ext>
                  </a:extLst>
                </a:gridCol>
                <a:gridCol w="1676399">
                  <a:extLst>
                    <a:ext uri="{9D8B030D-6E8A-4147-A177-3AD203B41FA5}">
                      <a16:colId xmlns:a16="http://schemas.microsoft.com/office/drawing/2014/main" val="3062725700"/>
                    </a:ext>
                  </a:extLst>
                </a:gridCol>
                <a:gridCol w="4139144">
                  <a:extLst>
                    <a:ext uri="{9D8B030D-6E8A-4147-A177-3AD203B41FA5}">
                      <a16:colId xmlns:a16="http://schemas.microsoft.com/office/drawing/2014/main" val="985814749"/>
                    </a:ext>
                  </a:extLst>
                </a:gridCol>
              </a:tblGrid>
              <a:tr h="37624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Name of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73987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Suryansh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2301330100208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Team Lead: architecture, harness, fault injection, store, CLI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639081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Simran Kumari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2301330100200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Metrics, failure analysis, statistics, optimization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880534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Tanishka Sahu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2301330100210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</a:rPr>
                        <a:t>Task suites, baseline agents, reports,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38205"/>
                  </a:ext>
                </a:extLst>
              </a:tr>
            </a:tbl>
          </a:graphicData>
        </a:graphic>
      </p:graphicFrame>
      <p:pic>
        <p:nvPicPr>
          <p:cNvPr id="3" name="Picture 2" descr="A black and red logo&#10;&#10;Description automatically generated">
            <a:extLst>
              <a:ext uri="{FF2B5EF4-FFF2-40B4-BE49-F238E27FC236}">
                <a16:creationId xmlns:a16="http://schemas.microsoft.com/office/drawing/2014/main" id="{9CEDF0D4-BD26-349A-2142-A1ADFB5C81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284" y="2996952"/>
            <a:ext cx="2688305" cy="115238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86000" y="4169663"/>
            <a:ext cx="810158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86581"/>
                </a:solidFill>
                <a:latin typeface="Arial"/>
              </a:rPr>
              <a:t>Design/Implementation Phase Progress Review  |  Group CSE/CSPROJECT/2027/G053  | 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68599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DEE56-5ACD-47A3-8DAE-BAA09301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0">
                <a:solidFill>
                  <a:srgbClr val="7A1F86"/>
                </a:solidFill>
                <a:latin typeface="Arial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BA36-30B6-42D8-82C9-C62A3F36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1600" b="0">
                <a:solidFill>
                  <a:srgbClr val="1F2933"/>
                </a:solidFill>
                <a:latin typeface="Arial"/>
              </a:rPr>
              <a:t>Problem, Idea and Objectives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sz="1600" b="0">
                <a:solidFill>
                  <a:srgbClr val="1F2933"/>
                </a:solidFill>
                <a:latin typeface="Arial"/>
              </a:rPr>
              <a:t>Proposed System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sz="1600" b="0">
                <a:solidFill>
                  <a:srgbClr val="1F2933"/>
                </a:solidFill>
                <a:latin typeface="Arial"/>
              </a:rPr>
              <a:t>Software Requirement Analysis and Modules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sz="1600" b="0">
                <a:solidFill>
                  <a:srgbClr val="1F2933"/>
                </a:solidFill>
                <a:latin typeface="Arial"/>
              </a:rPr>
              <a:t>Design: Class, Sequence, DFD, ER, Gantt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sz="1600" b="0">
                <a:solidFill>
                  <a:srgbClr val="1F2933"/>
                </a:solidFill>
                <a:latin typeface="Arial"/>
              </a:rPr>
              <a:t>Implementation: Algorithms and Code Snapshots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sz="1600" b="0">
                <a:solidFill>
                  <a:srgbClr val="1F2933"/>
                </a:solidFill>
                <a:latin typeface="Arial"/>
              </a:rPr>
              <a:t>Implementation Output and Preliminary Results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sz="1600" b="0">
                <a:solidFill>
                  <a:srgbClr val="1F2933"/>
                </a:solidFill>
                <a:latin typeface="Arial"/>
              </a:rPr>
              <a:t>Research Paper and Work Status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sz="1600" b="0">
                <a:solidFill>
                  <a:srgbClr val="1F2933"/>
                </a:solidFill>
                <a:latin typeface="Arial"/>
              </a:rPr>
              <a:t>References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47FDC-4C42-4481-9FE6-05DF8CFF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672" y="628650"/>
            <a:ext cx="272034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1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9504" y="2667000"/>
            <a:ext cx="9601200" cy="4191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8800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1AA5-D64D-404D-9F0D-B68D4DD7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Feedback from the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91B4-BF36-4C6D-B04B-A777C2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panel wants the team to :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14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Problem, Idea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417320"/>
            <a:ext cx="98755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1F2933"/>
                </a:solidFill>
                <a:latin typeface="Arial"/>
              </a:rPr>
              <a:t>The problem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600" b="0">
                <a:solidFill>
                  <a:srgbClr val="1F2933"/>
                </a:solidFill>
                <a:latin typeface="Arial"/>
              </a:rPr>
              <a:t>AI agents now plan, call tools, and retry, yet benchmarks report one number: did the agent finish?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600" b="0">
                <a:solidFill>
                  <a:srgbClr val="1F2933"/>
                </a:solidFill>
                <a:latin typeface="Arial"/>
              </a:rPr>
              <a:t>That number hides why runs fail, how consistent the agent is, and what reliability costs.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1F2933"/>
                </a:solidFill>
                <a:latin typeface="Arial"/>
              </a:rPr>
              <a:t>Our idea: a crash-test lab for AI agents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600" b="0">
                <a:solidFill>
                  <a:srgbClr val="1F2933"/>
                </a:solidFill>
                <a:latin typeface="Arial"/>
              </a:rPr>
              <a:t>Break tools on purpose, the same way for every agent, and run every task several times.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600" b="0">
                <a:solidFill>
                  <a:srgbClr val="1F2933"/>
                </a:solidFill>
                <a:latin typeface="Arial"/>
              </a:rPr>
              <a:t>Explain each failed run with evidence, then pick the cheapest setup that stays reliable.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1F2933"/>
                </a:solidFill>
                <a:latin typeface="Arial"/>
              </a:rPr>
              <a:t>Objectives and status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600" b="0">
                <a:solidFill>
                  <a:srgbClr val="1F2933"/>
                </a:solidFill>
                <a:latin typeface="Arial"/>
              </a:rPr>
              <a:t>O1 Evaluate: success, pass^k, consistency, cost, latency, recovery, steps (done)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600" b="0">
                <a:solidFill>
                  <a:srgbClr val="1F2933"/>
                </a:solidFill>
                <a:latin typeface="Arial"/>
              </a:rPr>
              <a:t>O2 Explain: five failure modes with evidence, seeded fault injection (done)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600" b="0">
                <a:solidFill>
                  <a:srgbClr val="1F2933"/>
                </a:solidFill>
                <a:latin typeface="Arial"/>
              </a:rPr>
              <a:t>O3 Optimize: paired tests, Pareto front, cheapest reliable setting (done; live LLM study next)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Proposed System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417320"/>
            <a:ext cx="5760720" cy="48082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78040" y="1508760"/>
            <a:ext cx="3931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1F2933"/>
                </a:solidFill>
                <a:latin typeface="Arial"/>
              </a:rPr>
              <a:t>Four layers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Inputs: YAML task suites with mock tools and faults, and any agent with name + run(task)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Execution: the harness runs every variant x task x trial; ToolEnv injects seeded faults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Analysis: scorers, metrics, and the failure classifier only read trajectories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Output: ranking with confidence intervals, paired test, Pareto sweep, SQLite store, HTML report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1F2933"/>
                </a:solidFill>
                <a:latin typeface="Arial"/>
              </a:rPr>
              <a:t>Runs anywhere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Offline, CPU only, no API key; live LLMs plug in through an OpenAI-compatible adapter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Software Requirement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417320"/>
            <a:ext cx="4800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1F2933"/>
                </a:solidFill>
                <a:latin typeface="Arial"/>
              </a:rPr>
              <a:t>Functional requirements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FR1 Load suites (YAML/JSON) with tools, faults, step budgets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FR2 Run any agent through name + run(task)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FR3 Inject reproducible timeouts, outages, fail-first faults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FR4 Repeat tasks k times; report pass@k, pass^k, consistency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FR5 Score answers: exact, normalized, numeric, regex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FR6 Diagnose failures with evidence; keep unknowns unclassified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FR7 Compare variants with intervals and a paired test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FR8 Sweep settings; return Pareto front and recommendation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FR9 Store runs (SQLite, JSONL); render HTML and Markdown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FR10 Offer a CLI and a Python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59" y="1417320"/>
            <a:ext cx="4800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1F2933"/>
                </a:solidFill>
                <a:latin typeface="Arial"/>
              </a:rPr>
              <a:t>Non-functional requirements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Reproducibility: same seed, same faults, same numbers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Fairness: every variant meets the identical fault schedule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Performance: about 6,500 scored runs per second; 81 tests in under 1 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Portability: Python 3.11 to 3.13, any OS, 2 runtime dependencies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Extensibility: new agents, scorers, suites, modes without harness changes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Robustness: an agent crash becomes a failed run, not a crashed experiment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Security: no eval(), escaped HTML, offline by default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300" b="0">
                <a:solidFill>
                  <a:srgbClr val="1F2933"/>
                </a:solidFill>
                <a:latin typeface="Arial"/>
              </a:rPr>
              <a:t>Maintainability: typed models, lint, CI on three Python versions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Major Modules and Functionalities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34440" y="1463040"/>
          <a:ext cx="9875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120640"/>
                <a:gridCol w="17373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Domain types and agent seam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Task, Step, Trajectory; FunctionAgent, ScriptedAgent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Suryansh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Tool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Tools, seeded FaultPolicy, Recorder of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Suryansh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Evaluation harness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Trials, timing, crash capture, pass@k, pass^k, experiments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Suryansh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Metrics and scorers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Cost, latency, tokens, recovery, horizon; five scorers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Simran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Failure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Five modes, root cause, evidence, unclassified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Simran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Statistics and 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Wilson, bootstrap, McNemar; sweep, Pareto, recommend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Simran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Suites and baseline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YAML suites, planted-defect agents, classifier self-check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Tanishka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Reports and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HTML and Markdown reports, 81 tests, 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Tanishka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Store, CLI, LLM 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SQLite and JSONL, relai commands, OpenAI-compatible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3"/>
                          </a:solidFill>
                          <a:latin typeface="Arial"/>
                        </a:rPr>
                        <a:t>Suryansh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Class Design</a:t>
            </a:r>
          </a:p>
        </p:txBody>
      </p:sp>
      <p:pic>
        <p:nvPicPr>
          <p:cNvPr id="3" name="Picture 2" descr="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571" y="1280160"/>
            <a:ext cx="6711257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Sequence Diagram: relai run</a:t>
            </a:r>
          </a:p>
        </p:txBody>
      </p:sp>
      <p:pic>
        <p:nvPicPr>
          <p:cNvPr id="3" name="Picture 2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676" y="1325880"/>
            <a:ext cx="749104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Data Flow Diagrams: Level 0 and Level 1</a:t>
            </a:r>
          </a:p>
        </p:txBody>
      </p:sp>
      <p:pic>
        <p:nvPicPr>
          <p:cNvPr id="3" name="Picture 2" descr="df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5960"/>
            <a:ext cx="3931920" cy="1510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6581"/>
                </a:solidFill>
                <a:latin typeface="Arial"/>
              </a:rPr>
              <a:t>Level 0: context diagram</a:t>
            </a:r>
          </a:p>
        </p:txBody>
      </p:sp>
      <p:pic>
        <p:nvPicPr>
          <p:cNvPr id="5" name="Picture 4" descr="df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325880"/>
            <a:ext cx="5760720" cy="45627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4251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6581"/>
                </a:solidFill>
                <a:latin typeface="Arial"/>
              </a:rPr>
              <a:t>Level 1: six processes and four data stores. Analysis reads stored run results, never the agent.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Database Design: ER Diagram</a:t>
            </a:r>
          </a:p>
        </p:txBody>
      </p:sp>
      <p:pic>
        <p:nvPicPr>
          <p:cNvPr id="3" name="Picture 2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01" y="1508760"/>
            <a:ext cx="9246197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58978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6581"/>
                </a:solidFill>
                <a:latin typeface="Arial"/>
              </a:rPr>
              <a:t>SQLite run store: experiments contain variants, variants produce runs, runs record steps and failure modes. result_json keeps each run lossless.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Gantt Chart</a:t>
            </a:r>
          </a:p>
        </p:txBody>
      </p:sp>
      <p:pic>
        <p:nvPicPr>
          <p:cNvPr id="3" name="Picture 2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380" y="1371600"/>
            <a:ext cx="918763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Implementation of Core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417320"/>
            <a:ext cx="475488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Fault schedule: u = hash(seed, task, trial, tool, call n); timeout if u &lt; p. Every agent meets the same faults.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Repeated trials: pass^k = C(c,k) / C(n,k) for c passes in n trials; pass@k = 1 - C(n-c,k) / C(n,k).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Classification: five detectors; root cause = mode with the earliest evidence; no match means unclassified.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Paired test: exact McNemar on runs that only one variant passed.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Optimization: keep the Pareto front over success, cost, latency; recommend the cheapest setting that meets the target.</a:t>
            </a:r>
          </a:p>
        </p:txBody>
      </p:sp>
      <p:pic>
        <p:nvPicPr>
          <p:cNvPr id="4" name="Picture 3" descr="classif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08760"/>
            <a:ext cx="4937760" cy="37384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Code Snapshots: Fault Injection and Retry</a:t>
            </a:r>
          </a:p>
        </p:txBody>
      </p:sp>
      <p:pic>
        <p:nvPicPr>
          <p:cNvPr id="3" name="Picture 2" descr="code_fault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947" y="1417320"/>
            <a:ext cx="7861065" cy="2331720"/>
          </a:xfrm>
          <a:prstGeom prst="rect">
            <a:avLst/>
          </a:prstGeom>
        </p:spPr>
      </p:pic>
      <p:pic>
        <p:nvPicPr>
          <p:cNvPr id="4" name="Picture 3" descr="code_retry_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836" y="3886200"/>
            <a:ext cx="7779287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Code Snapshots: Evaluation Loop and Statistics</a:t>
            </a:r>
          </a:p>
        </p:txBody>
      </p:sp>
      <p:pic>
        <p:nvPicPr>
          <p:cNvPr id="3" name="Picture 2" descr="code_evaluat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371600"/>
            <a:ext cx="5257800" cy="4731209"/>
          </a:xfrm>
          <a:prstGeom prst="rect">
            <a:avLst/>
          </a:prstGeom>
        </p:spPr>
      </p:pic>
      <p:pic>
        <p:nvPicPr>
          <p:cNvPr id="4" name="Picture 3" descr="code_evaluat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08760"/>
            <a:ext cx="4434840" cy="1308160"/>
          </a:xfrm>
          <a:prstGeom prst="rect">
            <a:avLst/>
          </a:prstGeom>
        </p:spPr>
      </p:pic>
      <p:pic>
        <p:nvPicPr>
          <p:cNvPr id="5" name="Picture 4" descr="code_evaluat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017520"/>
            <a:ext cx="4434840" cy="974626"/>
          </a:xfrm>
          <a:prstGeom prst="rect">
            <a:avLst/>
          </a:prstGeom>
        </p:spPr>
      </p:pic>
      <p:pic>
        <p:nvPicPr>
          <p:cNvPr id="6" name="Picture 5" descr="code_mcnemar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251960"/>
            <a:ext cx="4434840" cy="10262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Implementation Output</a:t>
            </a:r>
          </a:p>
        </p:txBody>
      </p:sp>
      <p:pic>
        <p:nvPicPr>
          <p:cNvPr id="3" name="Picture 2" descr="term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889" y="1417320"/>
            <a:ext cx="9870621" cy="2834640"/>
          </a:xfrm>
          <a:prstGeom prst="rect">
            <a:avLst/>
          </a:prstGeom>
        </p:spPr>
      </p:pic>
      <p:pic>
        <p:nvPicPr>
          <p:cNvPr id="4" name="Picture 3" descr="term_te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389120"/>
            <a:ext cx="4480560" cy="11392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89320" y="43434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30% of tool calls time out, 12 tasks, 5 trials each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Naive agent: 0.58 success but pass^5 only 0.25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Three retries: 1.00 success, about 2x cost and latency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McNemar p = 0.0001: the difference is real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Preliminary Results</a:t>
            </a:r>
          </a:p>
        </p:txBody>
      </p:sp>
      <p:pic>
        <p:nvPicPr>
          <p:cNvPr id="3" name="Picture 2" descr="stres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417320"/>
            <a:ext cx="4343400" cy="34092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4846320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86581"/>
                </a:solidFill>
                <a:latin typeface="Arial"/>
              </a:rPr>
              <a:t>Success (solid) and pass^5 (dashed) as timeouts rise</a:t>
            </a:r>
          </a:p>
        </p:txBody>
      </p:sp>
      <p:pic>
        <p:nvPicPr>
          <p:cNvPr id="5" name="Picture 4" descr="term_self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417320"/>
            <a:ext cx="5349240" cy="16477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3383280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Classifier self-check: every planted defect is found, precision 1.00 for all four modes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Fault injector matches theory: success (1 - p)^L, e.g. 0.33 measured vs 0.34 expected for 3 calls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Sweep: 2 retries is the cheapest setting with success &gt;= 0.95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Research Paper and Work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417320"/>
            <a:ext cx="4800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1F2933"/>
                </a:solidFill>
                <a:latin typeface="Arial"/>
              </a:rPr>
              <a:t>First research paper (IEEE format)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Arial"/>
              </a:rPr>
              <a:t>Agent Reliability Lab: Controlled Fault Injection and Evidence-Based Failure Analysis for Tool-Using Language Agents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Done: Abstract, Introduction, Related Work, Problem Statement, Proposed Methodology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Added: preliminary results with 3 tables and 3 figures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Next: live LLM results, then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59" y="1417320"/>
            <a:ext cx="4800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1F2933"/>
                </a:solidFill>
                <a:latin typeface="Arial"/>
              </a:rPr>
              <a:t>Done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v0.2 package: 17 modules, 81 tests, CI, docs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SRS, class, sequence, DFD, ER, Gantt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800" b="1">
                <a:solidFill>
                  <a:srgbClr val="1F2933"/>
                </a:solidFill>
                <a:latin typeface="Arial"/>
              </a:rPr>
              <a:t>Next (Oct to Dec)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Live LLM study: hosted and local models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Suites adapted from public benchmarks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More fault kinds: rate limits, corrupted outputs</a:t>
            </a:r>
          </a:p>
          <a:p>
            <a:pPr marL="285750" indent="-285750">
              <a:spcAft>
                <a:spcPts val="500"/>
              </a:spcAft>
              <a:buClr>
                <a:srgbClr val="7A1F86"/>
              </a:buClr>
              <a:buFont typeface="Arial"/>
              <a:buChar char="•"/>
            </a:pPr>
            <a:r>
              <a:rPr sz="1400" b="0">
                <a:solidFill>
                  <a:srgbClr val="1F2933"/>
                </a:solidFill>
                <a:latin typeface="Arial"/>
              </a:rPr>
              <a:t>Semester VIII: dashboard, trace import, release 1.0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0" y="457200"/>
            <a:ext cx="9875520" cy="868680"/>
          </a:xfrm>
        </p:spPr>
        <p:txBody>
          <a:bodyPr/>
          <a:lstStyle/>
          <a:p>
            <a:pPr algn="ctr"/>
            <a:r>
              <a:rPr sz="3200" b="0">
                <a:solidFill>
                  <a:srgbClr val="7A1F86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98755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[1] S. Yao, J. Zhao, D. Yu et al., "ReAct: Synergizing Reasoning and Acting in Language Models", ICLR, 2023.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[2] S. Yao, N. Shinn, P. Razavi, K. Narasimhan, "tau-bench: A Benchmark for Tool-Agent-User Interaction in Real-World Domains", arXiv:2406.12045, 2024.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[3] S. Kapoor, B. Stroebl, Z. S. Siegel, N. Nadgir, A. Narayanan, "AI Agents That Matter", arXiv:2407.01502, 2024.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[4] S. Kapoor et al., "Holistic Agent Leaderboard: The Missing Infrastructure for AI Agent Evaluation", ICLR, 2026.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[5] S. Rabanser, S. Kapoor, P. Kirgis et al., "Towards a Science of AI Agent Reliability", ICML, 2026.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[6] M. Cemri et al., "Why Do Multi-Agent LLM Systems Fail?", arXiv:2503.13657, 2025.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[7] "ToolMisuseBench: An Offline Deterministic Benchmark for Tool Misuse and Recovery in Agentic Systems", arXiv:2604.01508, 2026.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[8] "AgentChaos: Chaos Engineering for Agent Systems via Programmatic Fault Injection", arXiv:2608.06790, 2026.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[9] M. Chen et al., "Evaluating Large Language Models Trained on Code", arXiv:2107.03374, 2021.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[10] Q. McNemar, "Note on the Sampling Error of the Difference Between Correlated Proportions or Percentages", Psychometrika, 1947.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[11] E. B. Wilson, "Probable Inference, the Law of Succession, and Statistical Inference", J. Amer. Statist. Assoc., 1927.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3"/>
                </a:solidFill>
                <a:latin typeface="Times New Roman"/>
              </a:rPr>
              <a:t>[12] A. Basiri et al., "Chaos Engineering", IEEE Software, vol. 33, no. 3, 2016.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1426</TotalTime>
  <Words>210</Words>
  <Application>Microsoft Office PowerPoint</Application>
  <PresentationFormat>Custom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굴림</vt:lpstr>
      <vt:lpstr>Arial</vt:lpstr>
      <vt:lpstr>Century Gothic</vt:lpstr>
      <vt:lpstr>Times New Roman</vt:lpstr>
      <vt:lpstr>Vertical and Horizontal design template</vt:lpstr>
      <vt:lpstr>Project Title</vt:lpstr>
      <vt:lpstr>Index</vt:lpstr>
      <vt:lpstr>Content Format </vt:lpstr>
      <vt:lpstr>PowerPoint Presentation</vt:lpstr>
      <vt:lpstr>Feedback from the Panel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Rahul Sharma</cp:lastModifiedBy>
  <cp:revision>77</cp:revision>
  <dcterms:created xsi:type="dcterms:W3CDTF">2017-11-16T17:39:44Z</dcterms:created>
  <dcterms:modified xsi:type="dcterms:W3CDTF">2025-02-18T09:10:00Z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